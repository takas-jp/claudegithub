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時給換算</c:v>
                </c:pt>
              </c:strCache>
            </c:strRef>
          </c:tx>
          <c:spPr>
            <a:solidFill>
              <a:srgbClr val="2E6B55"/>
            </a:solidFill>
            <a:effectLst/>
          </c:spPr>
          <c:invertIfNegative val="0"/>
          <c:dLbls>
            <c:numFmt formatCode="#,##0&quot;円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23A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 週30h
130,000円</c:v>
                  </c:pt>
                  <c:pt idx="1">
                    <c:v>B 週20h
88,000円</c:v>
                  </c:pt>
                  <c:pt idx="2">
                    <c:v>C 週10h
44,000円</c:v>
                  </c:pt>
                  <c:pt idx="3">
                    <c:v>非常勤
時給</c:v>
                  </c:pt>
                  <c:pt idx="4">
                    <c:v>最低賃金
現行</c:v>
                  </c:pt>
                  <c:pt idx="5">
                    <c:v>最低賃金
改定後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1083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1074</c:v>
                </c:pt>
                <c:pt idx="5">
                  <c:v>1136</c:v>
                </c:pt>
              </c:numCache>
            </c:numRef>
          </c:val>
        </c:ser>
        <c:dLbls>
          <c:numFmt formatCode="#,##0&quot;円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50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#,##0&quot;円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単価</c:v>
                </c:pt>
              </c:strCache>
            </c:strRef>
          </c:tx>
          <c:spPr>
            <a:solidFill>
              <a:srgbClr val="9AA5A0"/>
            </a:solidFill>
            <a:effectLst/>
          </c:spPr>
          <c:invertIfNegative val="0"/>
          <c:dLbls>
            <c:numFmt formatCode="#,##0&quot;円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案の算式
（÷1,560時間）</c:v>
                  </c:pt>
                  <c:pt idx="1">
                    <c:v>法定算式
（÷120時間×12）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1083</c:v>
                </c:pt>
              </c:numCache>
            </c:numRef>
          </c:val>
        </c:ser>
        <c:dLbls>
          <c:numFmt formatCode="#,##0&quot;円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#,##0&quot;円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年間人件費</c:v>
                </c:pt>
              </c:strCache>
            </c:strRef>
          </c:tx>
          <c:spPr>
            <a:solidFill>
              <a:srgbClr val="9AA5A0"/>
            </a:solidFill>
            <a:effectLst/>
          </c:spPr>
          <c:invertIfNegative val="0"/>
          <c:dLbls>
            <c:numFmt formatCode="0&quot;万円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B70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5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194</c:v>
                </c:pt>
                <c:pt idx="1">
                  <c:v>203</c:v>
                </c:pt>
                <c:pt idx="2">
                  <c:v>214</c:v>
                </c:pt>
                <c:pt idx="3">
                  <c:v>230</c:v>
                </c:pt>
              </c:numCache>
            </c:numRef>
          </c:val>
        </c:ser>
        <c:dLbls>
          <c:numFmt formatCode="0&quot;万円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0&quot;万円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退職手当 見込み（基本給のみ）</c:v>
                </c:pt>
              </c:strCache>
            </c:strRef>
          </c:tx>
          <c:spPr>
            <a:solidFill>
              <a:srgbClr val="2E6B55"/>
            </a:solidFill>
            <a:effectLst/>
          </c:spPr>
          <c:invertIfNegative val="0"/>
          <c:dLbls>
            <c:numFmt formatCode="0&quot;万円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2026年（勤続16年）</c:v>
                  </c:pt>
                  <c:pt idx="1">
                    <c:v>2030年（勤続20年）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208</c:v>
                </c:pt>
                <c:pt idx="1">
                  <c:v>260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退職手当 見込み（役職手当込・S3）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0&quot;万円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2026年（勤続16年）</c:v>
                  </c:pt>
                  <c:pt idx="1">
                    <c:v>2030年（勤続20年）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246</c:v>
                </c:pt>
                <c:pt idx="1">
                  <c:v>308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引当金残高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0&quot;万円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2026年（勤続16年）</c:v>
                  </c:pt>
                  <c:pt idx="1">
                    <c:v>2030年（勤続20年）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165</c:v>
                </c:pt>
                <c:pt idx="1">
                  <c:v>225</c:v>
                </c:pt>
              </c:numCache>
            </c:numRef>
          </c:val>
        </c:ser>
        <c:dLbls>
          <c:numFmt formatCode="0&quot;万円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0&quot;万円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游ゴシック"/>
              <a:cs typeface="游ゴシック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職員給与規程（案）を理事会に付議する前に、最低賃金への適合、時間外単価の算式、就業規則との整合、退職金の引当を確認していただきたい。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3点のうち、最低賃金への対応は10月18日までに必要で、時間的に最優先。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1〜3が給与規程案そのものの修正、4〜6が就業規則・引当・手続きの課題。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平成25年の理事会で出た「他法人との給与比較」の宿題は、今回もデータが得られていない。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○は整合、△は修正が必要、×は法令に反する部分。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改定後の1,136円は答申段階の二次情報。告示で確定したら差し替える。発効日以降は改定額を下回る賃金は無効で差額支払いが必要。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時間外単価は案の算式が法定より低くなる点、有給は現行規則が法定未満である点を説明する。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S3でも年間20万円弱の増加。B・C区分と非常勤も同じ基準時給で再計算する。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引当金は年15万円の積立で2030年に225万円。見込額との差を埋めるには繰入増額が最も単純。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社会保険は職員の年齢によって扱いが変わるため、断定せず確認事項として扱う。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誤記は理事会付議前に原案者と事務局で修正する。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10月18日の発効に理事会承認が間に合わなくても、発効日以降は改定額での支払いが必要になる。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決定事項は事務局で議事録に残す。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特に最低賃金の改定額は告示で確定次第差し替える。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822960"/>
            <a:ext cx="3108960" cy="3108960"/>
          </a:xfrm>
          <a:prstGeom prst="ellipse">
            <a:avLst/>
          </a:prstGeom>
          <a:solidFill>
            <a:srgbClr val="2E6B55"/>
          </a:solidFill>
          <a:ln w="12700">
            <a:solidFill>
              <a:srgbClr val="2E6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-137160"/>
            <a:ext cx="1737360" cy="17373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更生保護法人 茨城県更生保護協会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7772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職員給与規程（案）等の検討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B70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説明資料（案）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検討会　令和8年（2026年）9月17日（木）又は18日（金） 11:30〜　於：景山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7772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※開催日および本件が同日の議題に含まれるかは要確認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FE3D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作成：理事 鈴木 孝昌　2026年9月12日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本日のゴール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決めていただきたいことは3点です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基準時給の決定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基本給表を2026年10月18日（予定）改定後の茨城県最低賃金1,136円以上に引き上げる。推奨は時給1,200円相当（週30時間で月額144,000円）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544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就業規則の同時改正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有給休暇の日数（法定は勤続6年6か月以上で年20日）、通勤手当、期末手当の用語、退職手当の算定基礎を給与規程と合わせて改める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544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536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退職手当と引当金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退職手当の見込額（208万〜308万円）と引当金（165万円）の差への対応を決める。基本は引当繰入の増額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結論：6つの提案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法令に適合させたうえで理事会へ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435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基本給表を引上げ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案の週30時間130,000円は時給1,083円。10月改定後の1,136円を下回るため136,400円以上に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6304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50208" y="1435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推奨は時給1,200円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月額144,000円。年間人件費は案比＋約20万円。次回以降の最低賃金改定にも耐える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6304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1435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時間外単価を法定算式に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6596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案は年間休日を考慮せず単価が約8%低い。「基本給÷月平均所定労働時間」に改める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3127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有給休暇を法定日数に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現行「年10日」は勤続1年6か月以上で法定未満。勤続16年の事務局長は20日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1546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3127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退職金の引当を見直し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見込額が引当金を43万〜83万円上回る。年間繰入150,000円→25万〜30万円を基本に検討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154680"/>
            <a:ext cx="384048" cy="38404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3127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実態確認のうえ付議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現行支給額、社会保険の適用、職員の同意を確認。必要なら社労士に規程案を確認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経緯：就業規則は平成26年に承認、給与規程は今回が初めて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平成25年案は「内容を検討のうえ再提出」の議長裁定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7498080" cy="0"/>
          </a:xfrm>
          <a:prstGeom prst="line">
            <a:avLst/>
          </a:prstGeom>
          <a:noFill/>
          <a:ln w="38100">
            <a:solidFill>
              <a:srgbClr val="CBD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609344"/>
            <a:ext cx="457200" cy="45720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平成25年5月8日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理事会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69748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就業規則・給与細則・退職慰労金支給細則（案）を当日動議で上程。定年年齢、他法人との給与比較、職員数の弾力化の意見が出て再提出に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609344"/>
            <a:ext cx="457200" cy="45720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平成26年7月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24028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理事会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69748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大野理事立案の就業規則（全17条）を承認。施行は平成26年6月1日。給与の金額は定めず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0680" y="1609344"/>
            <a:ext cx="457200" cy="457200"/>
          </a:xfrm>
          <a:prstGeom prst="ellipse">
            <a:avLst/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令和8年7月23日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検討会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69748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事務局から平成25年案と議事録のコピーを理事に送付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43800" y="1609344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4380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令和8年8月22日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224028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規程案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69748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「職員給与規程」（施行日空欄、作成者記載なし）をBoxに保存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出典：理事会議事録（平成25年5月8日）、事務局「書類送付ご案内」（令和8年7月23日）、Box「ScanSnap」20260822_職員給与規程.pdf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現行就業規則と給与規程（案）の比較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案は金額を初めて明文化。就業規則側にも改正が必要な条項がある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3840480"/>
                <a:gridCol w="10058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項目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現行就業規則（平成26年6月1日施行）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給与規程（案）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整合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基本給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基本給及び諸手当（金額の定めなし）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週30時間 130,000円、週20〜30時間 88,000〜127,600円、週10〜20時間 44,000〜83,600円、非常勤 時給1,100円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最低賃金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役職手当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諸手当を付加できる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事務局長 10,000円、主事 5,000円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○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通勤手当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実費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公共交通 実費（上限20,000円）、自家用車 15円/km（上限20,000円）、自転車 2,000円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上限の新設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時間外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定めなし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125%（深夜150%）。単価＝基本給×12÷（2週の勤務時間×26）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算式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賞与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期末手当を6月・12月に支給できる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年2回、各基本給1月分以内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用語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昇給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定めなし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年1回2月決定、4月支給分から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○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支給日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毎月16日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毎月16日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○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有給休暇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年間10日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（規定なし）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× 法定未満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退職手当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退職時の月額給与×勤務年数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（規定なし）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△ 引当との差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出典：現行就業規則、職員給与規程（案）（Box「ScanSnap」20260822_職員給与規程.pdf）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最低賃金との比較：10月改定後は全区分が下回る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茨城県 1,074円（2025年10月12日〜）→ 1,136円（2026年10月18日予定、答申8月24日）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34440"/>
            <a:ext cx="2926080" cy="3383280"/>
          </a:xfrm>
          <a:prstGeom prst="roundRect">
            <a:avLst>
              <a:gd name="adj" fmla="val 3750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読み取り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737360"/>
            <a:ext cx="260604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案は概ね時給1,100円で設計。現行1,074円は満たすが、改定後1,136円を全区分で下回る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週30時間で1,136円を満たす月額は136,400円以上（1,136円×120時間）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月平均所定労働時間120時間は、1日6時間×年間所定労働日数240日÷12で算定（日数は要確認）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最低賃金の比較では通勤手当・賞与・時間外割増は除外、役職手当は含む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出典：茨城県・つくば市公表資料（1,074円）、茨城地方最低賃金審議会答申の報道（1,136円、二次情報。茨城労働局の告示で要確認）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時間外手当の単価算式と年次有給休暇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いずれも労働基準法の定めに合わせる必要がある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時間外手当の1時間当たり単価（案第9条2項）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21031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2743200" y="1737360"/>
            <a:ext cx="16916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案：基本給×12÷（2週間の勤務時間×26）＝130,000×12÷1,560＝1,000円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労基法施行規則第19条：月給÷月平均所定労働時間＝130,000÷120＝1,083円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案の算式は年間休日を考慮せず、単価が約8%低い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→「基本給月額÷月平均所定労働時間」に改める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年次有給休暇（現行就業規則第6条）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37360"/>
          <a:ext cx="3657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0058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勤続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法定（週30h以上）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現行規則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6か月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1年6か月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2年6か月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3年6か月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14日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4年6か月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16日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5年6か月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18日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6年6か月以上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10日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84632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23A3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法定を下回る部分は無効（労基法第13条）。勤続16年の事務局長には年20日の付与が必要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出典：労働基準法第37条・第39条、労働基準法施行規則第19条（厚生労働省「確かめよう労働条件」ほか、二次情報）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基本給水準の試算（週30時間勤務）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推奨はS3：時給1,200円相当、月額144,000円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508760"/>
                <a:gridCol w="868680"/>
                <a:gridCol w="685800"/>
                <a:gridCol w="868680"/>
                <a:gridCol w="7772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内容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月額基本給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時給換算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年間人件費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案比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規程案のまま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130,000円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1,083円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1,940,000円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最低賃金1,136円準拠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136,400円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1,137円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2,029,600円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+89,600円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時給1,200円相当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144,000円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1,200円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2,136,000円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+196,000円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時給1,300円相当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156,000円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1,300円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2,304,000円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+364,000円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760720" y="1188720"/>
          <a:ext cx="3017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01752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3090672"/>
            <a:ext cx="48463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年間人件費＝基本給×12＋役職手当120,000円＋賞与（基本給2か月、案の上限）。社会保険料・退職引当・福利厚生は含まない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参考：令和7年度 給料手当決算 1,850,000円（一般会計支出の8.5%）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S2は改定後の最低賃金の下限で、次回改定（例年10月）で再び下回る可能性が高い</a:t>
            </a:r>
            <a:endParaRPr lang="en-US" sz="9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基本給表は「時給×月平均所定労働時間」で毎年度見直す方式にすると追随が容易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出典：令和7年度一般会計収支決算報告、職員給与規程（案）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退職手当の見込みと引当金の差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現行就業規則第15条：退職時の月額給与×勤務年数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34440"/>
            <a:ext cx="2926080" cy="3383280"/>
          </a:xfrm>
          <a:prstGeom prst="roundRect">
            <a:avLst>
              <a:gd name="adj" fmla="val 3750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対応案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737360"/>
            <a:ext cx="260604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(a) 引当金の年間繰入を150,000円から25万〜30万円に引き上げる【基本】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(b) 平成25年案のように「引当金の範囲内で理事会が決定」する方式に改める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(c) 算定基礎を基本給に限定し、「月額給与」の範囲を明記する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見込額は引当金を43万〜83万円上回る。職員の既得の期待に関わるため(a)を基本に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出典：財産目録（退職給与積立 1,650,000円、令和8年3月31日）、令和7年度決算（引当繰入150,000円）、役職員名簿（就任 平成22年9月26日）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そのほか確認が必要な事項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事務局・社会保険労務士で確認のうえ理事会へ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社会保険の適用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1848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法人は健康保険・厚生年金の強制適用。週30時間勤務は原則被保険者（70歳以上は厚生年金対象外）。令和7年度福利厚生費36,141円からは事業主負担（年約25万円規模）が見えない。適用状況と職員の年齢を確認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32588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280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現行の支給実額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61848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給料手当1,850,000円の内訳（基本給・手当・期末手当）は理事会資料に記載なし。案の金額が現行を下回る場合は不利益変更（労働契約法第9条・第10条）となり職員の同意が必要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46888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423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通勤手当の非課税限度額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6148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自家用車は片道距離に応じ月額4,200〜66,400円が非課税（2026年4月改正）。案の「1kmにつき15円」は期間の単位が不明。「片道×2×出勤日数×15円」等に明確化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2331720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46888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423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手当の要否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76148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平成25年案にあった扶養手当・資格手当・慶弔金は今回の案にない。設けるかを決定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61188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年間所定労働日数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90448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本資料は240日と仮定（2026年の平日261日−祝日17日−年末年始の平日4日）。保護観察所の閉庁日を含め事務局で確定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3474720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611880"/>
            <a:ext cx="292608" cy="29260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規程案の誤記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3904488"/>
            <a:ext cx="3383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第11条が2つ（賞与・改訂）、「別紙」「別表」の混在、第3条2項の句読点、第8条(1)の文言、附則の施行日空欄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出典：社会保険加入要件・通勤手当非課税限度額はいずれも二次情報（一次情報：日本年金機構、国税庁）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給与規程（案）・就業規則の修正提案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案9件、就業規則4件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365760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条項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現行の記載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修正案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 別表 基本給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A 130,000円ほか（時給約1,080〜1,100円）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基準時給1,136円以上（推奨1,200円）×月平均所定労働時間。毎年度見直し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 第9条2項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基本給×12÷（2週間の勤務時間×26）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基本給月額÷月平均所定労働時間（年間所定労働時間÷12）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 第11条（2か所）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賞与と規程の改訂が同じ条番号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改訂を第12条に繰り下げ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 第4条／第7条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「別紙」と「別表」が混在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「別表」に統一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 第3条2項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「ただし。役職手当については」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「ただし、役職手当については」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 第8条(1)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「定期券で算出された金額のいずれか低い実費」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「定期券の額又は実費のいずれか低い額」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 第8条(2)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通勤距離1kmにつき15円（期間の単位が不明）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片道距離×2×出勤日数×15円（月額）。非課税限度額の範囲内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 第2条3項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「就業規則第7条第1項に基づき付加給付」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付加できる手当の種類を列挙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 附則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施行日が空欄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理事会承認日または2026年10月18日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就業規則 第6条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年次有給休暇 年間10日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労基法第39条の付与日数表（6年6か月以上20日）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就業規則 第9条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通勤手当は実費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給与規程第8条による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就業規則 第11条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期末手当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「賞与」に用語統一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就業規則 第15条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退職時の月額給与×勤務年数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「月額給与」の範囲を明記し、引当金との関係を規定</a:t>
                      </a:r>
                      <a:endParaRPr lang="en-US" sz="8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出典：職員給与規程（案）、現行職員就業規則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手続きとスケジュール（案）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最低賃金の発効日（10月18日予定）から逆算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89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9月17/18日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検討会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基準時給、退職金の扱い、就業規則の同時改正の方針を決定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21408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21408" y="1389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9〜10月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実態確認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支給実額、社会保険、所定労働日数。必要なら社労士に確認。職員へ説明・同意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85616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389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10〜11月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理事会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給与規程・就業規則改正を承認（就業規則第17条）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9824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9824" y="1389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10月18日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49824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最低賃金発効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以降の賃金は1,136円を下回れない。承認が間に合わない場合は差額を支払う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14032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F4E3D"/>
          </a:solidFill>
          <a:ln w="12700">
            <a:solidFill>
              <a:srgbClr val="1F4E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1389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F2F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2027年2月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昇給決定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給与規程第6条の初回昇給、4月支給分から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9F1EC"/>
          </a:solidFill>
          <a:ln w="12700">
            <a:solidFill>
              <a:srgbClr val="E9F1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767328"/>
            <a:ext cx="7863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職員10人未満のため就業規則の労基署への届出義務はないが、給与規程は就業規則の一部であり、現行を下回る変更には職員の同意が必要（労働契約法第9条・第10条）</a:t>
            </a:r>
            <a:endParaRPr lang="en-US" sz="9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現行就業規則第17条・給与規程案第11条により、改正は理事会の議決事項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本日、決めていただきたいこと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7項目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3560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280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1. 基本給表の基準時給を1,136円（S2）とするか、1,200円（S3）またはそれ以上とするか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76856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4128" y="2121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2. 基本給表を「時給×月平均所定労働時間」で毎年度見直す方式に改めるか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118104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24128" y="29626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3. 時間外手当の単価算式を法定算式に改めることの承認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58184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9593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380390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4. 就業規則（有給休暇、通勤手当、期末手当の用語、退職手当の算定基礎）を同時に改正するか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435608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76088" y="1280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5. 退職手当と引当金の差への対応（繰入増額／理事会決定方式／算定基礎の限定）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075688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76856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76088" y="2121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6. 扶養手当・資格手当・慶弔金（平成25年案にあり）を設けるか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16936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118104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F4E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76088" y="29626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7. 社会保険労務士への確認依頼の要否と、理事会付議の時期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留意事項：本資料作成時点で確認できていないこと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推測で埋めていない項目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規程案の作成者・位置づけ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67335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作成者・作成日の記載がなく、9月の検討会の議題に含まれるかも未確認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371600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現行の支給実額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167335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給料手当1,850,000円の内訳（基本給・手当・期末手当）は理事会資料に記載なし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50008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487168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441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社会保険の適用と職員の年齢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8892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健康保険・厚生年金の加入状況。年齢により厚生年金の対象外となる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350008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487168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441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最低賃金1,136円は二次情報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78892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審議会答申の報道に基づく。茨城労働局の告示で金額・発効日を確認。労基法等の条文も一次情報サイトに接続できず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65576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602736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557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年間所定労働日数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90448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240日と仮定。保護観察所の閉庁日を含め事務局で確定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465576"/>
            <a:ext cx="4023360" cy="987552"/>
          </a:xfrm>
          <a:prstGeom prst="roundRect">
            <a:avLst>
              <a:gd name="adj" fmla="val 11111"/>
            </a:avLst>
          </a:prstGeom>
          <a:solidFill>
            <a:srgbClr val="F4F8F5"/>
          </a:solidFill>
          <a:ln w="12700">
            <a:solidFill>
              <a:srgbClr val="F4F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602736"/>
            <a:ext cx="292608" cy="292608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3557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退職手当の解釈と他県水準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390448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「月額給与」に役職手当を含むか、過去の支給実績。他県協会の職員給与は入手できていない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E3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出典一覧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310896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資料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日付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所在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3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職員給与規程（案）・現行職員就業規則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案：作成日記載なし（Box保存 2026年8月22日）／規則：平成26年6月1日施行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Box「ScanSnap」20260822_更生保護法人茨城県更生保護協会職員給与規程.pdf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事務局「書類送付ご案内」、平成25年就業規則（案）・給与細則（案）・退職慰労金支給細則（案）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令和8年7月23日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Box「ScanSnap」20260723_書類送付ご案内.pdf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理事会議事録（第4号議案 就業規則（案））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平成25年5月8日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Box「ScanSnap」20130327_理事会議事録.pdf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令和8年度理事会資料（令和7年度決算、財産目録、役職員名簿）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令和8年5月13日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Box「ScanSnap」202605_更生保護法人茨城県更生保護協会.pdf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茨城県最低賃金 1,074円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2025年10月12日発効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茨城県、つくば市、小美玉市の公表資料（二次情報）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茨城県最低賃金 1,136円答申、発効予定2026年10月18日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答申 2026年8月24日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ゼロプラス、STRIDE、ろうどうDB（二次情報）。一次情報：茨城労働局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年次有給休暇の付与日数（労基法第39条）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―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厚生労働省「確かめよう労働条件」、連合 労働相談Q&amp;A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社会保険の加入要件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―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弥生、社労士ナビ、連合（二次情報）。一次情報：日本年金機構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通勤手当の非課税限度額（2026年4月改正）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2026年4月1日施行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OBC、電通総研、ラクラス（二次情報）。一次情報：国税庁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3210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茨城県更生保護協会 職員給与規程（案）等の検討 説明資料（案）</dc:title>
  <dc:subject>PptxGenJS Presentation</dc:subject>
  <dc:creator>鈴木孝昌</dc:creator>
  <cp:lastModifiedBy>鈴木孝昌</cp:lastModifiedBy>
  <cp:revision>1</cp:revision>
  <dcterms:created xsi:type="dcterms:W3CDTF">2026-09-12T01:50:21Z</dcterms:created>
  <dcterms:modified xsi:type="dcterms:W3CDTF">2026-09-12T01:50:21Z</dcterms:modified>
</cp:coreProperties>
</file>