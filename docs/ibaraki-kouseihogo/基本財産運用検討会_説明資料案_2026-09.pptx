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構成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3D"/>
              </a:solidFill>
              <a:effectLst/>
            </c:spPr>
          </c:dPt>
          <c:dPt>
            <c:idx val="1"/>
            <c:bubble3D val="0"/>
            <c:spPr>
              <a:solidFill>
                <a:srgbClr val="F2B705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游ゴシック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游ゴシック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国債 1億1,975万円</c:v>
                </c:pt>
                <c:pt idx="1">
                  <c:v>定期預金 5,525万円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119750000</c:v>
                </c:pt>
                <c:pt idx="1">
                  <c:v>55250000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游ゴシック"/>
              <a:cs typeface="游ゴシック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利率</c:v>
                </c:pt>
              </c:strCache>
            </c:strRef>
          </c:tx>
          <c:spPr>
            <a:solidFill>
              <a:srgbClr val="9AA5A0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5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B70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B70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B70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定期預金（保有分平均）</c:v>
                  </c:pt>
                  <c:pt idx="1">
                    <c:v>国債（保有分平均）</c:v>
                  </c:pt>
                  <c:pt idx="2">
                    <c:v>新規 2年国債</c:v>
                  </c:pt>
                  <c:pt idx="3">
                    <c:v>新規 5年国債</c:v>
                  </c:pt>
                  <c:pt idx="4">
                    <c:v>新規 10年国債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0.28</c:v>
                </c:pt>
                <c:pt idx="1">
                  <c:v>1.14</c:v>
                </c:pt>
                <c:pt idx="2">
                  <c:v>1.82</c:v>
                </c:pt>
                <c:pt idx="3">
                  <c:v>2.22</c:v>
                </c:pt>
                <c:pt idx="4">
                  <c:v>2.98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游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0.0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国債 償還</c:v>
                </c:pt>
              </c:strCache>
            </c:strRef>
          </c:tx>
          <c:spPr>
            <a:solidFill>
              <a:srgbClr val="1F4E3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游ゴシック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2026年</c:v>
                  </c:pt>
                  <c:pt idx="1">
                    <c:v>2027年</c:v>
                  </c:pt>
                  <c:pt idx="2">
                    <c:v>2028〜29年</c:v>
                  </c:pt>
                  <c:pt idx="3">
                    <c:v>2030年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2000</c:v>
                </c:pt>
                <c:pt idx="2">
                  <c:v>0</c:v>
                </c:pt>
                <c:pt idx="3">
                  <c:v>9975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定期 満期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游ゴシック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2026年</c:v>
                  </c:pt>
                  <c:pt idx="1">
                    <c:v>2027年</c:v>
                  </c:pt>
                  <c:pt idx="2">
                    <c:v>2028〜29年</c:v>
                  </c:pt>
                  <c:pt idx="3">
                    <c:v>2030年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600</c:v>
                </c:pt>
                <c:pt idx="1">
                  <c:v>4352</c:v>
                </c:pt>
                <c:pt idx="2">
                  <c:v>0</c:v>
                </c:pt>
                <c:pt idx="3">
                  <c:v>573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游ゴシック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66666"/>
                    </a:solidFill>
                    <a:latin typeface="游ゴシック"/>
                  </a:defRPr>
                </a:pPr>
                <a:r>
                  <a:rPr sz="900" b="0" i="0" u="none" strike="noStrike">
                    <a:solidFill>
                      <a:srgbClr val="666666"/>
                    </a:solidFill>
                    <a:latin typeface="游ゴシック"/>
                  </a:rPr>
                  <a:t>万円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游ゴシック"/>
              <a:cs typeface="游ゴシック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国債比率</c:v>
                </c:pt>
              </c:strCache>
            </c:strRef>
          </c:tx>
          <c:spPr>
            <a:solidFill>
              <a:srgbClr val="9AA5A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5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5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B70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栃木県協会</c:v>
                  </c:pt>
                  <c:pt idx="1">
                    <c:v>群馬県協会</c:v>
                  </c:pt>
                  <c:pt idx="2">
                    <c:v>茨城県協会（現状）</c:v>
                  </c:pt>
                  <c:pt idx="3">
                    <c:v>茨城県協会（提案）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83.3</c:v>
                </c:pt>
                <c:pt idx="2">
                  <c:v>68.4</c:v>
                </c:pt>
                <c:pt idx="3">
                  <c:v>83.8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游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年間利息</c:v>
                </c:pt>
              </c:strCache>
            </c:strRef>
          </c:tx>
          <c:spPr>
            <a:solidFill>
              <a:srgbClr val="2E6B55"/>
            </a:solidFill>
            <a:effectLst/>
          </c:spPr>
          <c:invertIfNegative val="0"/>
          <c:dLbls>
            <c:numFmt formatCode="0&quot;万円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B70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F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153</c:v>
                </c:pt>
                <c:pt idx="1">
                  <c:v>158</c:v>
                </c:pt>
                <c:pt idx="2">
                  <c:v>192</c:v>
                </c:pt>
                <c:pt idx="3">
                  <c:v>204</c:v>
                </c:pt>
                <c:pt idx="4">
                  <c:v>225</c:v>
                </c:pt>
                <c:pt idx="5">
                  <c:v>258</c:v>
                </c:pt>
              </c:numCache>
            </c:numRef>
          </c:val>
        </c:ser>
        <c:dLbls>
          <c:numFmt formatCode="0&quot;万円&quot;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游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0&quot;万円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購入額</c:v>
                </c:pt>
              </c:strCache>
            </c:strRef>
          </c:tx>
          <c:spPr>
            <a:solidFill>
              <a:srgbClr val="2E6B55"/>
            </a:solidFill>
            <a:effectLst/>
          </c:spPr>
          <c:invertIfNegative val="0"/>
          <c:dLbls>
            <c:numFmt formatCode="0&quot;万円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B70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2年（2028〜29年償還）</c:v>
                  </c:pt>
                  <c:pt idx="1">
                    <c:v>5年（2031〜32年償還）</c:v>
                  </c:pt>
                  <c:pt idx="2">
                    <c:v>10年（2036〜37年償還）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2000</c:v>
                </c:pt>
                <c:pt idx="2">
                  <c:v>1683</c:v>
                </c:pt>
              </c:numCache>
            </c:numRef>
          </c:val>
        </c:ser>
        <c:dLbls>
          <c:numFmt formatCode="0&quot;万円&quot;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游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"/>
          <c:min val="0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0&quot;万円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本日は、基本財産1億7,500万円の運用方針について、規程案の承認と配分目標の決定をお願いしたい。数値は令和8年3月31日現在の財産目録に基づく。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決めていただきたいのは、規程案の承認、配分目標、移行方法の3点。細かい諮問事項は最後のスライドにまとめている。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提案の全体像。1と2と3が本日の決定事項、4〜6は実務の進め方。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基本財産は国債1億1,975万円と定期預金5,525万円。令和7年度に定期4,000万円を国債に振り替え済み。平均利回りは0.87%だが、定期部分は0.28%にとどまる。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グラフの左2本が現在の保有分、右3本が新規に買った場合の利回り。金利数値は二次情報なので、当日までに一次情報で再確認する。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令和7年度に購入した国債3本がいずれも2030年償還のため、集中が生じている。今後の購入で年限を分散する。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制度上の上限はない。栃木は100%国債、群馬は国債1億・定期2千万。茨城の提案84%は群馬とほぼ同水準。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規程案の骨子。配分の目安70〜90%が本日の配分目標の枠になる。誤記12件の修正案は付録2に一覧化した。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D案は年間利息が現状比で約51万円増。F案（100%国債）は最も増収だが定期がゼロになり、ガイドライン案の目安を超えるため改訂が必要。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満期を待つだけで2027年3月末に目標到達。中途解約で前倒ししても増える利息は約17万円なので、各行の中途解約規定を確認してから判断すればよい。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購入分を2年・5年・10年に分ければ、2028年以降ほぼ毎年償還が来て、金利変動への追随と流動性の両方が確保できる。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現在取引のある4社に同じ条件で提示を依頼する。他県では役員の関係先や長年の取引先を選ぶ例が多いが、本協会はガイドラインどおり比較と記録を残す。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最初の振替は12月24日の常陽2年定期。理事会承認と認可申請がそれまでに間に合うよう逆算している。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チェックボックス形式。決定事項は事務局で議事録に残す。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推測で埋めていない項目の一覧。特に金利数値は当日までに一次情報で差し替える。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明細。令和7年度中に常陽の国債5,975万円が償還され、定期4,000万円の解約分と合わせて2030年償還の3銘柄を取得している。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誤記は理事会付議前に梶副理事長と事務局で修正する。「文意要確認」の2件は原案者に意図を確認。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822960"/>
            <a:ext cx="3108960" cy="3108960"/>
          </a:xfrm>
          <a:prstGeom prst="ellipse">
            <a:avLst/>
          </a:prstGeom>
          <a:solidFill>
            <a:srgbClr val="2E6B55"/>
          </a:solidFill>
          <a:ln w="12700">
            <a:solidFill>
              <a:srgbClr val="2E6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-137160"/>
            <a:ext cx="1737360" cy="17373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731520" cy="8595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FE3D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更生保護法人 茨城県更生保護協会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7772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基本財産運用 検討会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B70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説明資料（案）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令和8年（2026年）9月17日（木）又は18日（金） 11:30〜　於：景山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49040"/>
            <a:ext cx="7772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FE3D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※開催日は事務局メールの曜日表記と日付が一致しないため要確認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FE3D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作成：理事 鈴木 孝昌　2026年9月12日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本日のゴール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検討会で決めていただきたいことは3点です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55448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規程案の承認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48840"/>
            <a:ext cx="21945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梶副理事長作成の「資金運用基本方針（案）」「資金運用ガイドライン（案）」（2026年8月19日付）を誤記修正のうえ理事会に付議する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3258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55448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配分目標の決定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148840"/>
            <a:ext cx="21945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基本財産のうち国債等の比率を「約84%」（定期預金 約16%）とする。ガイドライン案の目安70〜90%の範囲内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13258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55080" y="155448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55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移行方法の決定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2148840"/>
            <a:ext cx="21945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2026年12月〜2027年3月に満期を迎える定期4口（2,683万円）を、満期ごとに国債へ振り替える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結論：6つの提案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安全性・流動性・収益性の順で、定期預金の一部を国債へ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1435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規程案を承認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基本方針（案）・ガイドライン（案）を誤記修正のうえ理事会へ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46304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747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950208" y="1435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国債等 約84%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定期は約16%（2,842万円）を流動性・再投資余力として保持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2648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0" y="146304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93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84848" y="1435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満期ごとに振替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中途解約せず、満期到来分から順次国債へ（2027年3月末に目標到達）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15568" y="31272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償還年限を分散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2030年に約6割が償還する集中を、2年・5年・10年で段階的に是正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29184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4720" y="315468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747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950208" y="31272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複数機関で比較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3474720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野村證券・常陽銀行・県信・めぶき証券から条件提示、選定記録を保存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2648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09360" y="315468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093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784848" y="31272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手続きを確認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309360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理事会・評議員会の議決後、必要なら関東地方更生保護委員会へ定款変更認可申請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現状①　基本財産 1億7,500万円の構成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 68.4%／定期預金 31.6%（令和8年3月31日現在）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663440" y="1234440"/>
            <a:ext cx="4023360" cy="749808"/>
          </a:xfrm>
          <a:prstGeom prst="roundRect">
            <a:avLst>
              <a:gd name="adj" fmla="val 14634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846320" y="12801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175,000,000円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812280" y="12801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基本財産 合計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63440" y="2103120"/>
            <a:ext cx="4023360" cy="749808"/>
          </a:xfrm>
          <a:prstGeom prst="roundRect">
            <a:avLst>
              <a:gd name="adj" fmla="val 14634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846320" y="21488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0.87%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812280" y="21488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現在の平均利回り（国債1.14%、定期0.28%）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63440" y="2971800"/>
            <a:ext cx="4023360" cy="749808"/>
          </a:xfrm>
          <a:prstGeom prst="roundRect">
            <a:avLst>
              <a:gd name="adj" fmla="val 14634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846320" y="30175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834,889円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30175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令和7年度 財産収入（利息利金等）実績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63440" y="3840480"/>
            <a:ext cx="4023360" cy="749808"/>
          </a:xfrm>
          <a:prstGeom prst="roundRect">
            <a:avLst>
              <a:gd name="adj" fmla="val 14634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46320" y="38862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1,519,350円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812280" y="38862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現行構成での年間利息見込み（税引前）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出典：令和8年度理事会資料 財産目録・財産目録別紙（令和8年3月31日現在）、令和7年度一般会計収支決算報告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現状②　定期預金と国債の利率差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2026年9月時点で、国債利回りは定期預金の約5〜10倍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1234440"/>
            <a:ext cx="2926080" cy="3383280"/>
          </a:xfrm>
          <a:prstGeom prst="roundRect">
            <a:avLst>
              <a:gd name="adj" fmla="val 3750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436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1737360"/>
            <a:ext cx="260604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保有中の定期5,525万円は年0.28%。年間利息は約15万円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同額を5年国債（2.22%）に置くと年間約123万円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日銀の政策金利は2026年6月に1.0%へ。定期の店頭金利（常陽銀行スーパー定期0.35〜0.50%）も上昇しているが、国債との差は大きい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定期の中途解約利率は多くの銀行で「普通預金利率」が下限。常陽銀行の普通預金が0.3%なら、0.275%の定期を解約しても不利益はほぼない可能性（要確認）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出典：国債利回りは2026年9月10日時点（stock-marketdata.com、二次情報）。政策金利・預金金利も二次情報。会議前に財務省・日銀・各行の一次情報で再確認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現状③　償還・満期が2030年に集中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基本財産の60%（1億548万円）が同じ年に償還を迎える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1234440"/>
            <a:ext cx="2926080" cy="3383280"/>
          </a:xfrm>
          <a:prstGeom prst="roundRect">
            <a:avLst>
              <a:gd name="adj" fmla="val 3750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436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課題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1737360"/>
            <a:ext cx="260604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2030年に国債9,975万円＋定期573万円が償還・満期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その時点の金利水準に基本財産の6割が一度に左右される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ガイドライン（案）第4条は「特定の年度・年限に満期が集中することを避ける」と規定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2028〜2029年は償還がゼロで、再投資の機会もない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今後の購入分は2年・5年・10年に分散（スライド11）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出典：財産目録別紙（令和8年3月31日現在）。2027年の定期には自動継続後の満期（2027.5.22 2,119万円、2027.8.7 150万円）を含む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制度上の確認と他県の事例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関東地方更生保護委員会「許容割合の定めはない」「100%国債の前例あり」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関東地方更生保護委員会の回答（要旨）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37360"/>
            <a:ext cx="388620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許容される割合はどこにも示されていない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定期預金より国債の利率が良いというだけでなく、中途解約利率・解約手数料・違約金を加味しても切り替えのメリットが高いか判断が必要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基本財産を100%国債に切り替えて定款変更許可申請をした法人もある</a:t>
            </a:r>
            <a:endParaRPr lang="en-US" sz="10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申請の際は、変更理由欄に上記の比較を盛り込むこと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他県協会の基本財産に占める国債比率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846320" y="1645920"/>
          <a:ext cx="39319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出典：関東地方更生保護委員会からの回答（2026年8月、事務局メール添付）。栃木・群馬は事務局が栃木県協会事務局長に聞き取り（群馬：国債1億円・定期2千万円）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資金運用基本方針（案）・ガイドライン（案）の要点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梶副理事長作成、2026年8月19日付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344168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優先順位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16184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安全性 → 流動性 → 収益性。物価上昇による実質価値の低下にも留意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344168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0916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運用対象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16184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基本財産は国債・地方債・政府保証債・定期預金・理事会が安全と認めた商品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487168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配分の目安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27614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国債等 70〜90%、定期預金等 10〜30%。毎年度見直し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09160" y="2487168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0916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満期管理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0" y="27614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年限を分散し、満期時に同一商品へ機械的に継続しない。原則満期保有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3630168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禁止取引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51560" y="39044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信用取引・デリバティブ・FX・暗号資産・個別株の短期売買など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709160" y="3630168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0916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30352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選定と報告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303520" y="39044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複数の金融機関から条件提示を受け記録を保存。毎年度、理事会へ運用状況を報告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出典：【更生保護協会】資金運用基本方針.docx／資金運用ガイドライン.docx（Box「資産運用委員会」フォルダ）。誤記の修正案は付録2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配分案の比較（A〜F）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推奨はD案：満期到来分を順次振り替え、国債等 約84%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212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"/>
                <a:gridCol w="731520"/>
                <a:gridCol w="640080"/>
                <a:gridCol w="960120"/>
                <a:gridCol w="82296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国債等比率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国債等（万円）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定期（万円）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年間利息見込み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現状との差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A　現状維持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68.4%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11,975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5,525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1,531,250円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B　案の下限 70%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70.0%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12,250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5,250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1,583,500円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+52,250円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C　80%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80.0%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14,000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3,500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1,916,000円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+384,750円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D　満期分を順次振替 約84%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83.8%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14,658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2,842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2,041,020円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+509,770円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E　案の上限 90%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90.0%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15,750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1,750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2,248,500円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+717,250円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F　100%国債（栃木型）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100.0%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17,500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2,581,000円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+1,049,750円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760720" y="1188720"/>
          <a:ext cx="3017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試算前提：新規国債 2.2%、定期 0.3%、既存国債は現行クーポン。2027年償還の国債2,000万円（0.7%・0.1%）を2.2%で再投資すると、さらに年約36万円の増収。A・Fはガイドライン案の目安（70〜90%）の範囲外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推奨案（D）の進め方：満期ごとに振り替え、中途解約はしない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2027年3月末に国債等 83.8%へ到達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2103120"/>
            <a:ext cx="7680960" cy="0"/>
          </a:xfrm>
          <a:prstGeom prst="line">
            <a:avLst/>
          </a:prstGeom>
          <a:noFill/>
          <a:ln w="38100">
            <a:solidFill>
              <a:srgbClr val="CBD5C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4128" y="1883664"/>
            <a:ext cx="457200" cy="45720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2412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2026.12.24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2542032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常陽 2年定期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600万円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520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国債比率 71.9%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15768" y="1883664"/>
            <a:ext cx="457200" cy="45720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1576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2027.2〜3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148840" y="25146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194560" y="2542032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国債償還 2,000万円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（0.7%・0.1%）を再投資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2148840" y="3520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国債比率 ―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07408" y="1883664"/>
            <a:ext cx="457200" cy="45720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0740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2027.2.19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840480" y="25146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886200" y="2542032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県信 1年定期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573万円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3840480" y="3520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国債比率 75.1%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99048" y="1883664"/>
            <a:ext cx="457200" cy="45720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9904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53212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2027.3.23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532120" y="25146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577840" y="2542032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常陽 1年定期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300万円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5532120" y="3520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国債比率 76.8%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790688" y="1883664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9068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22376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2027.3.28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223760" y="25146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269480" y="2542032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常陽 1年定期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1,210万円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7223760" y="3520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国債比率 83.8%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効果：年間利息 約152万円 → 約204万円（+約51万円）。国債償還分の再投資でさらに +約36万円。残る定期2,842万円（県信2,119万円・常陽150万円・常陽5年573万円）は流動性として保持し、翌年度に見直し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出典：財産目録別紙。中途解約で前倒しした場合の追加利息は概算約17万円（金利差約1.9%×平均残存約4か月）。各行の中途解約利率を確認のうえ別途判断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償還年限の分散（ラダー）案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2026年12月〜2027年5月の購入分 4,683万円を2年・5年・10年に分ける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234440"/>
          <a:ext cx="3474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15544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年限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購入額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利回り目安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2年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1,000万円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1.82%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5年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2,000万円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2.22%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10年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1,683万円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2.98%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計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4,683万円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加重平均 約2.41%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5212080" y="2834640"/>
            <a:ext cx="3474720" cy="1783080"/>
          </a:xfrm>
          <a:prstGeom prst="roundRect">
            <a:avLst>
              <a:gd name="adj" fmla="val 6154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394960" y="2907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ルールの提案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394960" y="3246120"/>
            <a:ext cx="31546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同一年に償還を迎える額は基本財産の25%以下（ガイドライン第4条に追記）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2030年償還分9,975万円は、償還時に2031年以降へ分散して再投資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10年債は原則満期保有のため、途中の評価損は元本保全に影響しない</a:t>
            </a:r>
            <a:endParaRPr lang="en-US" sz="95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出典：利回りは2026年9月10日時点（二次情報）。新窓販国債の年限は2年・5年・10年。3年・7年は既発債で補完可能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金融機関の選定手順（ガイドライン第8条）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同一条件で条件提示を依頼し、比較表を選定記録として保存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野村證券 水戸支店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 8,450万円を保護預り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既発債の提示価格、新窓販国債、保護預り料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2075688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1214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常陽銀行 本店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21214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 3,525万円・定期 2,833万円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1214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新窓販国債の取扱い、中途解約利率、店頭金利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2916936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9626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茨城県信用組合 本店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194560" y="296265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定期 2,692万円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611880" y="29626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国債の取扱い有無、中途解約利率。扱えない場合の預け替え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3758184"/>
            <a:ext cx="5120640" cy="731520"/>
          </a:xfrm>
          <a:prstGeom prst="roundRect">
            <a:avLst>
              <a:gd name="adj" fmla="val 15000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80390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めぶき証券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194560" y="38039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投資信託 1,000万円（通常財産）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611880" y="380390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国債の提示価格、保護預り料、投信の評価額報告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52160" y="1234440"/>
            <a:ext cx="2834640" cy="3346704"/>
          </a:xfrm>
          <a:prstGeom prst="roundRect">
            <a:avLst>
              <a:gd name="adj" fmla="val 3871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3504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評価項目（7項目）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1691640"/>
            <a:ext cx="25146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利回り・価格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信用力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手数料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保護預り費用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事務処理体制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情報提供・アフターサービス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更生保護活動への理解・協力（寄附、社明運動、研修講師派遣、協力雇用主など）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協力内容のみをもって選定しない（ガイドライン第8条(3)）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出典：財産目録（令和8年3月31日現在）、資金運用ガイドライン（案）第8条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手続きとスケジュール（案）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検討会 → 条件提示 → 理事会 → 認可申請（必要な場合） → 振替開始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9月17/18日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検討会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31720"/>
            <a:ext cx="1280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配分目標・移行方法・分散ルール・提示先を決定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828800" y="1371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28800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3D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9〜10月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条件提示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331720"/>
            <a:ext cx="1280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4社へ依頼、比較表を作成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1371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00400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3D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10〜11月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200400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理事会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2331720"/>
            <a:ext cx="1280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規程と配分変更を承認（定款により評議員会も）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0" y="1371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3D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承認後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認可申請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2331720"/>
            <a:ext cx="1280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定款変更に当たる場合、関東地方更生保護委員会へ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43600" y="1371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0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3D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12月24日〜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0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振替開始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0" y="2331720"/>
            <a:ext cx="1280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満期到来分から順次国債へ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315200" y="1371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0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3D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2027年5月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0" y="1737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理事会報告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0" y="2331720"/>
            <a:ext cx="1280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運用状況を報告、翌年度の配分見直し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" y="3639312"/>
            <a:ext cx="78638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更生保護事業法：定款の変更は法務大臣の認可（地方更生保護委員会へ委任）を受けなければ効力を生じない。協会定款に基本財産の内訳が記載されているかを確認し、申請の要否を決める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令和8年2月18日に水戸保護観察所の立入検査あり。規程整備と選定記録の保存は検査対応の観点からも有益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出典：更生保護事業法（平成7年法律第86号）、関東地方更生保護委員会回答、令和7年度事業報告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本日、決めていただきたいこと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7項目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435608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24128" y="1280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1. 規程案を、付録2の誤記修正のうえ理事会に付議してよいか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075688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2276856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24128" y="21214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2. 配分目標を「国債等 約84%」（D案）とするか、C・E・F案とするか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916936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3118104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24128" y="296265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3. 移行は満期到来分の順次振替とするか、中途解約利率の確認を条件に前倒しを認めるか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758184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39593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24128" y="380390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4. 「同一年の償還額は25%以下」の分散ルールを採用するか。年限配分（2年・5年・10年）はこれでよいか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09160" y="12344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46320" y="1435608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76088" y="1280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5. 条件提示を依頼する金融機関の範囲（4社）と担当者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2075688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46320" y="2276856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76088" y="21214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6. 理事会付議の時期と、定款変更認可申請の要否を確認する担当者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09160" y="2916936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46320" y="3118104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276088" y="296265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7. 通常財産の投資信託1,000万円の評価額報告と、リスク資産割合の上限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留意事項：本資料作成時点で確認できていないこと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会議前または会議後に確認が必要な項目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023360" cy="987552"/>
          </a:xfrm>
          <a:prstGeom prst="roundRect">
            <a:avLst>
              <a:gd name="adj" fmla="val 11111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371600"/>
            <a:ext cx="292608" cy="29260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金利数値は二次情報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7335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財務省・日銀・常陽銀行の一次情報サイトに接続できず。国債利回り（2026年9月10日）、政策金利、預金金利は検索結果の要約に基づく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1234440"/>
            <a:ext cx="4023360" cy="987552"/>
          </a:xfrm>
          <a:prstGeom prst="roundRect">
            <a:avLst>
              <a:gd name="adj" fmla="val 11111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371600"/>
            <a:ext cx="292608" cy="29260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25780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協会定款の記載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257800" y="167335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基本財産の内訳（預金・国債）が定款に記載されているか。認可申請の要否が決まる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350008"/>
            <a:ext cx="4023360" cy="987552"/>
          </a:xfrm>
          <a:prstGeom prst="roundRect">
            <a:avLst>
              <a:gd name="adj" fmla="val 11111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2487168"/>
            <a:ext cx="292608" cy="29260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2441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中途解約利率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78892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常陽銀行・茨城県信用組合の定期預金の中途解約利率と手数料の有無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09160" y="2350008"/>
            <a:ext cx="4023360" cy="987552"/>
          </a:xfrm>
          <a:prstGeom prst="roundRect">
            <a:avLst>
              <a:gd name="adj" fmla="val 11111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46320" y="2487168"/>
            <a:ext cx="292608" cy="29260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257800" y="2441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自動継続後の条件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257800" y="278892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2026年5月22日・8月7日に満期を迎えた定期の継続の有無と適用利率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465576"/>
            <a:ext cx="4023360" cy="987552"/>
          </a:xfrm>
          <a:prstGeom prst="roundRect">
            <a:avLst>
              <a:gd name="adj" fmla="val 11111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3602736"/>
            <a:ext cx="292608" cy="29260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436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005840" y="3557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投資信託の評価額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1005840" y="390448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MUFGウェルスインサイト・ファンド1,000万円は帳簿価額。時価は未確認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09160" y="3465576"/>
            <a:ext cx="4023360" cy="987552"/>
          </a:xfrm>
          <a:prstGeom prst="roundRect">
            <a:avLst>
              <a:gd name="adj" fmla="val 11111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46320" y="3602736"/>
            <a:ext cx="292608" cy="29260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84632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257800" y="3557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利子課税と開催日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257800" y="390448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国債利息の源泉徴収の扱い（税理士に確認）。検討会の日付（9月17日は木曜）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付録1　基本財産の明細（令和8年3月31日現在）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国債5銘柄 1億1,975万円、定期預金7口 5,525万円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51560"/>
                <a:gridCol w="411480"/>
                <a:gridCol w="640080"/>
                <a:gridCol w="7772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保管先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銘柄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利率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償還日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額面（円）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野村證券 水戸支店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利付国債 第469回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0.7%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2027.2.1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10,000,000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野村證券 水戸支店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利付国債 第346回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0.1%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2027.3.20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10,000,000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野村證券 水戸支店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利付国債 第179回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1.0%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2030.6.20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40,000,000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野村證券 水戸支店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利付国債 第183回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1.6%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2030.12.20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24,500,000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常陽銀行 本店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利付国債 第182回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1.4%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2030.9.20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35,250,000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計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加重平均 1.14%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119,750,000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143000"/>
                <a:gridCol w="548640"/>
                <a:gridCol w="777240"/>
                <a:gridCol w="7772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預入先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種類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利率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満期日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金額（円）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県信 本店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1年大口（自継）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0.275%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2026.5.22*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21,190,000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県信 本店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1年スーパー（自継）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0.275%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2027.2.19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5,730,000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常陽 本店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2年 自継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0.125%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2026.12.24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6,000,000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常陽 本店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1年 自継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0.275%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2027.3.28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12,100,000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常陽 本店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5年 自継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0.4%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2030.9.17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5,730,000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常陽 本店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1年 自継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0.275%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2026.8.7*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1,500,000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常陽 本店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1年 自継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0.4%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2027.3.23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3,000,000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計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加重平均 0.28%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55,250,000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* 作成日（2026年9月12日）より前の満期日は自動継続されたものと推定。継続後の利率・満期日は要確認。年間利息：国債 1,365,500円、定期 153,850円（契約利率ベース）</a:t>
            </a:r>
            <a:endParaRPr lang="en-US" sz="85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出典：令和8年度理事会資料 財産目録別紙（令和8年3月31日現在）</a:t>
            </a:r>
            <a:endParaRPr lang="en-US" sz="800" dirty="0"/>
          </a:p>
        </p:txBody>
      </p:sp>
      <p:sp>
        <p:nvSpPr>
          <p:cNvPr id="9" name="Text 4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201168"/>
            <a:ext cx="45720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付録2　規程案の誤記・文言の修正提案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基本方針（案）2件、ガイドライン（案）10件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47472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条項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現行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修正案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基本方針 第4条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分散型投信信託等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分散型投資信託等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基本方針 第6条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原則とし複数の金融機関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原則として複数の金融機関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ガイドライン 2(2)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価格変動リスクを伴う記入商品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価格変動リスクを伴う金融商品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ガイドライン 3(1)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資金集中による集積性の低下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資金集中による収益性の低下（文意要確認）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ガイドライン 3(3)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安全性の高い債権と適切な分散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安全性の高い債券と適切な分散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ガイドライン 4(1)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金利変更リスク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金利変動リスク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ガイドライン 7(1)3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市場価格変更リスク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市場価格変動リスク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ガイドライン 7(2)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名称のみで投資または登記を判断せず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名称のみで投機的取引か否かを判断せず（文意要確認）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ガイドライン 8(3)3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特殊詐欺防止どの他の研修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特殊詐欺防止その他の研修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ガイドライン 10(2)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前条の結果確認については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前項の確認結果については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ガイドライン 12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令和〇年〇月〇日から施行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理事会承認日を記入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ガイドライン 第4条（追加）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―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同一年に償還を迎える基本財産の額は原則25%以下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出典：【更生保護協会】資金運用基本方針.docx／資金運用ガイドライン.docx（2026年8月19日付）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茨城県更生保護協会 基本財産運用検討会 説明資料（案）</dc:title>
  <dc:subject>PptxGenJS Presentation</dc:subject>
  <dc:creator>鈴木孝昌</dc:creator>
  <cp:lastModifiedBy>鈴木孝昌</cp:lastModifiedBy>
  <cp:revision>1</cp:revision>
  <dcterms:created xsi:type="dcterms:W3CDTF">2026-09-12T02:45:12Z</dcterms:created>
  <dcterms:modified xsi:type="dcterms:W3CDTF">2026-09-12T02:45:12Z</dcterms:modified>
</cp:coreProperties>
</file>